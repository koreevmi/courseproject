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86B2"/>
    <a:srgbClr val="1D3344"/>
    <a:srgbClr val="5A62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>
        <p:scale>
          <a:sx n="75" d="100"/>
          <a:sy n="75" d="100"/>
        </p:scale>
        <p:origin x="1776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A37C0-C28A-D3AB-E640-80740B5CC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F3EC76-23D3-58A1-60CE-19892ADC4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802BD0-812A-3278-C380-AE9C4AEFE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9504-808D-4101-A718-0211D3B9A06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8705DF-8606-81D9-3797-C32BD5C19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7C386B-5D9F-9ACE-55CA-5138D17A5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F7D6-8F7F-46E7-95A9-8B63BA8E0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45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08574-0137-B188-04B7-7E5D1C4C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37CD9F-DF2A-377F-1E67-FA687BA6F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6AA669-F03D-83AA-ACA4-EF8CB18A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9504-808D-4101-A718-0211D3B9A06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7D6E7-1B59-ECBA-BDFF-3089F5DB0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0EB428-251C-A749-EF18-C5482EE1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F7D6-8F7F-46E7-95A9-8B63BA8E0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12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7E1991-E34F-840B-ACBA-877271567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DF666A-E332-D8B6-7C81-BC264C706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D247DB-6796-30D5-D9C7-D02829438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9504-808D-4101-A718-0211D3B9A06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437EC9-97EE-A4AF-A35A-20DBAE8D5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B5F086-3C38-820F-A4C8-8991BE94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F7D6-8F7F-46E7-95A9-8B63BA8E0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65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7D4C48-0298-007A-5325-02B9103C9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43BC7-3BA5-CC04-A499-3C5E606448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26CDFF-E758-1AFD-A7F3-362C11A98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BEAA31-E07C-11B1-0E45-E58F5FA70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9504-808D-4101-A718-0211D3B9A06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DA878A-72E8-C587-5116-D9315100F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C3C0BB-7EFA-C10A-D21F-97875C34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F7D6-8F7F-46E7-95A9-8B63BA8E0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549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DB9F24-07DE-8ECE-9D91-9680B05E1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730A24-22C3-D8C4-5371-A47A62957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C0A7B4-02C3-C8D3-3098-D78D8F1F6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02A621-6F12-83DC-D1C5-3C62B2C6A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26C5C2D-3614-09EC-9043-5DEA29774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13F7A0-2826-23B6-5CB7-C53720DC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9504-808D-4101-A718-0211D3B9A06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0748EC-17AB-98DE-09FA-406228A6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69BCBF6-0205-A245-F3CE-93327677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F7D6-8F7F-46E7-95A9-8B63BA8E0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892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1EF58-C58D-8621-2324-73905EB11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9713AAC-BA01-4237-BF8A-1CDAF1093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9504-808D-4101-A718-0211D3B9A06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C41C12-219A-2BDD-466E-992A1B069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A3D17E1-C314-BAC1-D690-86455288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F7D6-8F7F-46E7-95A9-8B63BA8E0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69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44E782-A41C-F9FE-6C85-FD8F8D679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9504-808D-4101-A718-0211D3B9A06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BCF866A-20B2-DAA2-AE3E-AC3B9CD72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A4CF50-60CA-8CFE-A32D-6A82AAA29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F7D6-8F7F-46E7-95A9-8B63BA8E0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690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6C6D4-F987-156A-4F31-369235B7A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C1628E-307D-3E2B-D3C1-C0F51CFF3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4C2F31-1A0A-9646-3A0D-3A35AC7BE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97272C-52D3-46D2-C928-BB1E67B8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9504-808D-4101-A718-0211D3B9A06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176FD4-2A67-D9B5-7E5B-EB71D4BB2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38E413-FC94-7B87-B784-F61071D6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F7D6-8F7F-46E7-95A9-8B63BA8E0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632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BD0442-F95D-2DF5-7AA4-325E733EC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62901C1-ED4A-A8E2-F85E-C7B9E593F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D97F8-301E-6D30-0980-DB2DF1CE4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BB78F-278F-EFFB-D00C-188D69D2D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9504-808D-4101-A718-0211D3B9A06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6CFE08-62AF-51D3-9B80-893DC5B69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F25277-9F71-9FE5-CFC0-E75447B98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F7D6-8F7F-46E7-95A9-8B63BA8E0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236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792FFA-FFE0-ECDB-9902-A63811348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0AF1E5-A03B-90DF-42AE-3A03EFBD8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DAE04F-BEFA-1EFE-B2BE-751EA760F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9504-808D-4101-A718-0211D3B9A06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8A17E5-84B9-718E-37EF-6E456015D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9816D1-C433-B4BC-7C97-6970B9E2A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F7D6-8F7F-46E7-95A9-8B63BA8E0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923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699A78A-CAFE-0E75-BBD2-283F6D637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AA51B9-BA17-D743-C2FB-C535E58A9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9F328-3108-8212-01D1-8CF6250C2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9504-808D-4101-A718-0211D3B9A06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FB277B-5309-8030-0178-E2C39ADA7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EB4EF8-DE54-03F4-E64E-C81C6EBF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F7D6-8F7F-46E7-95A9-8B63BA8E0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824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C25893-B8E7-CC47-41EB-466A1FFDD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6CD1BA-03CB-E512-8A31-D9C5369E3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E3F8E7-C707-94AB-9F13-3FC7D5476B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49504-808D-4101-A718-0211D3B9A06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59C4B0-F648-8698-48C2-2A3B77BBBC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B58BE6-0321-D53F-B1CA-0C1181EBE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0DF7D6-8F7F-46E7-95A9-8B63BA8E0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106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86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19FE7E3-2FC6-1667-21EF-04DCDD5EFFC7}"/>
              </a:ext>
            </a:extLst>
          </p:cNvPr>
          <p:cNvSpPr/>
          <p:nvPr/>
        </p:nvSpPr>
        <p:spPr>
          <a:xfrm>
            <a:off x="246743" y="188686"/>
            <a:ext cx="11520000" cy="252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ФЕДЕРАЛЬНОЕ ГОСУДАРСТВЕННОЕ БЮДЖЕТНОЕ ОБРАЗОВАТЕЛЬНОЕ</a:t>
            </a:r>
            <a:b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УЧРЕЖДЕНИЕ ВЫСШЕГО ОБРАЗОВАНИЯ</a:t>
            </a:r>
            <a:b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«САНКТ-ПЕТЕРБУРГСКИЙ ГОСУДАРСТВЕННЫЙ УНИВЕРСИТЕТ</a:t>
            </a:r>
            <a:b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ТЕЛЕКОММУНИКАЦИЙ ИМ. ПРОФ. М.А. БОНЧ-БРУЕВИЧА»</a:t>
            </a:r>
            <a:b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(СПбГУТ)</a:t>
            </a:r>
            <a:b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АРХАНГЕЛЬСКИЙ КОЛЛЕДЖ ТЕЛЕКОММУНИКАЦИЙ</a:t>
            </a:r>
            <a:b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ИМ. Б.Л. РОЗИНГА (ФИЛИАЛ) СПбГУТ</a:t>
            </a:r>
            <a:b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(АКТ (ф) СПбГУТ)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6B9CD4-8530-6266-1F62-4E8CB29D53E8}"/>
              </a:ext>
            </a:extLst>
          </p:cNvPr>
          <p:cNvSpPr txBox="1"/>
          <p:nvPr/>
        </p:nvSpPr>
        <p:spPr>
          <a:xfrm>
            <a:off x="0" y="2814676"/>
            <a:ext cx="12192000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КУРСОВОЙ ПРОЕКТ</a:t>
            </a:r>
          </a:p>
          <a:p>
            <a:pPr algn="ctr"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РАЗРАБОТКА ПОДСИСТЕМЫ УЧЕТА ДОРОЖНО-СТРОИТЕЛЬНЫХ МАТЕРИАЛОВ </a:t>
            </a:r>
            <a:br>
              <a:rPr lang="ru-RU" sz="240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</a:br>
            <a:r>
              <a:rPr lang="ru-RU" sz="240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ДЛЯ АВТОДОРОЖНЫХ ПРОЕКТОВ</a:t>
            </a:r>
            <a:endParaRPr lang="ru-RU" sz="24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9D8529-059C-5795-60C4-40500167F4B7}"/>
              </a:ext>
            </a:extLst>
          </p:cNvPr>
          <p:cNvSpPr txBox="1"/>
          <p:nvPr/>
        </p:nvSpPr>
        <p:spPr>
          <a:xfrm>
            <a:off x="8510258" y="4734300"/>
            <a:ext cx="35733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Кореев Михаил Алексеевич</a:t>
            </a:r>
          </a:p>
          <a:p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Студент ИСПП-21</a:t>
            </a:r>
          </a:p>
          <a:p>
            <a:endParaRPr lang="ru-RU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Маломан Юлия Сергеевна</a:t>
            </a:r>
            <a:b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Руководитель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22115E-2A59-2501-0846-007E3243A95E}"/>
              </a:ext>
            </a:extLst>
          </p:cNvPr>
          <p:cNvSpPr txBox="1"/>
          <p:nvPr/>
        </p:nvSpPr>
        <p:spPr>
          <a:xfrm>
            <a:off x="5082011" y="6323329"/>
            <a:ext cx="2314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Архангельск 2025</a:t>
            </a:r>
          </a:p>
        </p:txBody>
      </p:sp>
    </p:spTree>
    <p:extLst>
      <p:ext uri="{BB962C8B-B14F-4D97-AF65-F5344CB8AC3E}">
        <p14:creationId xmlns:p14="http://schemas.microsoft.com/office/powerpoint/2010/main" val="484070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86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DF8E18-F461-80DD-6F22-13139972F759}"/>
              </a:ext>
            </a:extLst>
          </p:cNvPr>
          <p:cNvSpPr txBox="1"/>
          <p:nvPr/>
        </p:nvSpPr>
        <p:spPr>
          <a:xfrm>
            <a:off x="4461753" y="272374"/>
            <a:ext cx="36219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Актуальность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9FD783D-CAF7-C16E-FFD3-DC4E6EFA9D4F}"/>
              </a:ext>
            </a:extLst>
          </p:cNvPr>
          <p:cNvSpPr/>
          <p:nvPr/>
        </p:nvSpPr>
        <p:spPr>
          <a:xfrm>
            <a:off x="635540" y="1755842"/>
            <a:ext cx="11274357" cy="334631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985F98-AC42-713E-E112-1D92E81C7FB9}"/>
              </a:ext>
            </a:extLst>
          </p:cNvPr>
          <p:cNvSpPr txBox="1"/>
          <p:nvPr/>
        </p:nvSpPr>
        <p:spPr>
          <a:xfrm>
            <a:off x="1066801" y="2644169"/>
            <a:ext cx="60830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Автоматизация учета дорожно-строительных материалов позволяет значительно снизить временные затраты на обработку данных и улучшить точность учета.</a:t>
            </a:r>
            <a:endParaRPr lang="ru-RU" sz="2400" dirty="0"/>
          </a:p>
        </p:txBody>
      </p:sp>
      <p:pic>
        <p:nvPicPr>
          <p:cNvPr id="6" name="Рисунок 5" descr="Изображение выглядит как снимок экрана, Графика, символ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1DC1A011-2688-09B5-6C4C-FB3327FD0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685" y="2066956"/>
            <a:ext cx="2724086" cy="2724086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BCB3223-6868-8983-BA1D-73DBF9560DC2}"/>
              </a:ext>
            </a:extLst>
          </p:cNvPr>
          <p:cNvSpPr/>
          <p:nvPr/>
        </p:nvSpPr>
        <p:spPr>
          <a:xfrm>
            <a:off x="10515600" y="6011694"/>
            <a:ext cx="1498060" cy="6128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Century Gothic" panose="020B0502020202020204" pitchFamily="34" charset="0"/>
              </a:rPr>
              <a:t>2/9</a:t>
            </a:r>
          </a:p>
        </p:txBody>
      </p:sp>
    </p:spTree>
    <p:extLst>
      <p:ext uri="{BB962C8B-B14F-4D97-AF65-F5344CB8AC3E}">
        <p14:creationId xmlns:p14="http://schemas.microsoft.com/office/powerpoint/2010/main" val="3419778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86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DF8E18-F461-80DD-6F22-13139972F759}"/>
              </a:ext>
            </a:extLst>
          </p:cNvPr>
          <p:cNvSpPr txBox="1"/>
          <p:nvPr/>
        </p:nvSpPr>
        <p:spPr>
          <a:xfrm>
            <a:off x="3516549" y="249850"/>
            <a:ext cx="5158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Целевая аудитория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BCB3223-6868-8983-BA1D-73DBF9560DC2}"/>
              </a:ext>
            </a:extLst>
          </p:cNvPr>
          <p:cNvSpPr/>
          <p:nvPr/>
        </p:nvSpPr>
        <p:spPr>
          <a:xfrm>
            <a:off x="10515600" y="6011694"/>
            <a:ext cx="1498060" cy="6128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Century Gothic" panose="020B0502020202020204" pitchFamily="34" charset="0"/>
              </a:rPr>
              <a:t>3/9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50ACD88-3C74-80D1-C6B7-4B05E7B18F69}"/>
              </a:ext>
            </a:extLst>
          </p:cNvPr>
          <p:cNvSpPr/>
          <p:nvPr/>
        </p:nvSpPr>
        <p:spPr>
          <a:xfrm>
            <a:off x="4619017" y="1755841"/>
            <a:ext cx="2953966" cy="334631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C1DF33B-2267-B2A8-278D-FB77F8D13288}"/>
              </a:ext>
            </a:extLst>
          </p:cNvPr>
          <p:cNvGrpSpPr/>
          <p:nvPr/>
        </p:nvGrpSpPr>
        <p:grpSpPr>
          <a:xfrm>
            <a:off x="851576" y="1755840"/>
            <a:ext cx="2953966" cy="3346315"/>
            <a:chOff x="562583" y="1755840"/>
            <a:chExt cx="2953966" cy="3346315"/>
          </a:xfrm>
        </p:grpSpPr>
        <p:sp>
          <p:nvSpPr>
            <p:cNvPr id="3" name="Прямоугольник: скругленные углы 2">
              <a:extLst>
                <a:ext uri="{FF2B5EF4-FFF2-40B4-BE49-F238E27FC236}">
                  <a16:creationId xmlns:a16="http://schemas.microsoft.com/office/drawing/2014/main" id="{F9FD783D-CAF7-C16E-FFD3-DC4E6EFA9D4F}"/>
                </a:ext>
              </a:extLst>
            </p:cNvPr>
            <p:cNvSpPr/>
            <p:nvPr/>
          </p:nvSpPr>
          <p:spPr>
            <a:xfrm>
              <a:off x="562583" y="1755840"/>
              <a:ext cx="2953966" cy="3346315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Century Gothic" panose="020B0502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48EE65-43BD-3EBE-3E4E-B3AC9CD05372}"/>
                </a:ext>
              </a:extLst>
            </p:cNvPr>
            <p:cNvSpPr txBox="1"/>
            <p:nvPr/>
          </p:nvSpPr>
          <p:spPr>
            <a:xfrm>
              <a:off x="684990" y="1867711"/>
              <a:ext cx="270915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latin typeface="Century Gothic" panose="020B0502020202020204" pitchFamily="34" charset="0"/>
                </a:rPr>
                <a:t>Дорожно-строительные компании</a:t>
              </a:r>
            </a:p>
          </p:txBody>
        </p:sp>
        <p:pic>
          <p:nvPicPr>
            <p:cNvPr id="11" name="Рисунок 10" descr="Изображение выглядит как графическая вставка, мультфильм, Графика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F2A2E4D1-22DE-9029-C1D7-C563A713F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794" y="2791041"/>
              <a:ext cx="2089544" cy="2089544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9CBD834-FD45-961D-E2F2-CCE075266EE7}"/>
              </a:ext>
            </a:extLst>
          </p:cNvPr>
          <p:cNvSpPr txBox="1"/>
          <p:nvPr/>
        </p:nvSpPr>
        <p:spPr>
          <a:xfrm>
            <a:off x="4740613" y="1867711"/>
            <a:ext cx="2709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Century Gothic" panose="020B0502020202020204" pitchFamily="34" charset="0"/>
              </a:rPr>
              <a:t>Руководители проектов</a:t>
            </a:r>
          </a:p>
        </p:txBody>
      </p:sp>
      <p:pic>
        <p:nvPicPr>
          <p:cNvPr id="16" name="Рисунок 15" descr="Изображение выглядит как графическая вставка, Мультфильм, Анимация, мультфильм&#10;&#10;Автоматически созданное описание">
            <a:extLst>
              <a:ext uri="{FF2B5EF4-FFF2-40B4-BE49-F238E27FC236}">
                <a16:creationId xmlns:a16="http://schemas.microsoft.com/office/drawing/2014/main" id="{7A88A82A-1FF2-0BF8-C8B8-EDDD81BA8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45" y="2837075"/>
            <a:ext cx="2043510" cy="2043510"/>
          </a:xfrm>
          <a:prstGeom prst="rect">
            <a:avLst/>
          </a:prstGeom>
        </p:spPr>
      </p:pic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049F729A-FB90-AEF9-F518-5D3805C75D99}"/>
              </a:ext>
            </a:extLst>
          </p:cNvPr>
          <p:cNvGrpSpPr/>
          <p:nvPr/>
        </p:nvGrpSpPr>
        <p:grpSpPr>
          <a:xfrm>
            <a:off x="8386458" y="1755840"/>
            <a:ext cx="2953966" cy="3346315"/>
            <a:chOff x="8675451" y="1755840"/>
            <a:chExt cx="2953966" cy="3346315"/>
          </a:xfrm>
        </p:grpSpPr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B2FC3F32-15B6-8314-1522-9939F3121B6C}"/>
                </a:ext>
              </a:extLst>
            </p:cNvPr>
            <p:cNvSpPr/>
            <p:nvPr/>
          </p:nvSpPr>
          <p:spPr>
            <a:xfrm>
              <a:off x="8675451" y="1755840"/>
              <a:ext cx="2953966" cy="3346315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634DB7C-35F7-ACCC-4C6C-1C0C5FD8B2F6}"/>
                </a:ext>
              </a:extLst>
            </p:cNvPr>
            <p:cNvSpPr txBox="1"/>
            <p:nvPr/>
          </p:nvSpPr>
          <p:spPr>
            <a:xfrm>
              <a:off x="8797857" y="1954808"/>
              <a:ext cx="2709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latin typeface="Century Gothic" panose="020B0502020202020204" pitchFamily="34" charset="0"/>
                </a:rPr>
                <a:t>Снабженцы</a:t>
              </a:r>
            </a:p>
          </p:txBody>
        </p:sp>
        <p:pic>
          <p:nvPicPr>
            <p:cNvPr id="18" name="Рисунок 17" descr="Изображение выглядит как графическая вставка, эмотикон, мультфильм, иллюстрация&#10;&#10;Автоматически созданное описание">
              <a:extLst>
                <a:ext uri="{FF2B5EF4-FFF2-40B4-BE49-F238E27FC236}">
                  <a16:creationId xmlns:a16="http://schemas.microsoft.com/office/drawing/2014/main" id="{A198A67F-A80D-EBF6-B02E-54C16A3D6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16881" y="2523108"/>
              <a:ext cx="2206115" cy="22061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12435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86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DF8E18-F461-80DD-6F22-13139972F759}"/>
              </a:ext>
            </a:extLst>
          </p:cNvPr>
          <p:cNvSpPr txBox="1"/>
          <p:nvPr/>
        </p:nvSpPr>
        <p:spPr>
          <a:xfrm>
            <a:off x="5316341" y="279033"/>
            <a:ext cx="1557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Цель</a:t>
            </a:r>
            <a:endParaRPr lang="ru-RU" sz="4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BCB3223-6868-8983-BA1D-73DBF9560DC2}"/>
              </a:ext>
            </a:extLst>
          </p:cNvPr>
          <p:cNvSpPr/>
          <p:nvPr/>
        </p:nvSpPr>
        <p:spPr>
          <a:xfrm>
            <a:off x="10515600" y="6011694"/>
            <a:ext cx="1498060" cy="6128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Century Gothic" panose="020B0502020202020204" pitchFamily="34" charset="0"/>
              </a:rPr>
              <a:t>4/9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9FD783D-CAF7-C16E-FFD3-DC4E6EFA9D4F}"/>
              </a:ext>
            </a:extLst>
          </p:cNvPr>
          <p:cNvSpPr/>
          <p:nvPr/>
        </p:nvSpPr>
        <p:spPr>
          <a:xfrm>
            <a:off x="698972" y="1755842"/>
            <a:ext cx="10792433" cy="334631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B4238B-3FC4-8CD2-700A-403227ACF965}"/>
              </a:ext>
            </a:extLst>
          </p:cNvPr>
          <p:cNvSpPr txBox="1"/>
          <p:nvPr/>
        </p:nvSpPr>
        <p:spPr>
          <a:xfrm>
            <a:off x="1297020" y="2828834"/>
            <a:ext cx="6003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  <a:ea typeface="Aptos" panose="020B0004020202020204" pitchFamily="34" charset="0"/>
              </a:rPr>
              <a:t>Р</a:t>
            </a:r>
            <a:r>
              <a:rPr lang="ru-RU" sz="2400" dirty="0">
                <a:effectLst/>
                <a:latin typeface="Century Gothic" panose="020B0502020202020204" pitchFamily="34" charset="0"/>
                <a:ea typeface="Aptos" panose="020B0004020202020204" pitchFamily="34" charset="0"/>
              </a:rPr>
              <a:t>азработка программного обеспечения для учета дорожно-строительных материалов</a:t>
            </a:r>
            <a:endParaRPr lang="ru-RU" sz="2400" dirty="0">
              <a:latin typeface="Century Gothic" panose="020B0502020202020204" pitchFamily="34" charset="0"/>
            </a:endParaRPr>
          </a:p>
        </p:txBody>
      </p:sp>
      <p:pic>
        <p:nvPicPr>
          <p:cNvPr id="10" name="Рисунок 9" descr="Изображение выглядит как символ, мультфильм&#10;&#10;Автоматически созданное описание">
            <a:extLst>
              <a:ext uri="{FF2B5EF4-FFF2-40B4-BE49-F238E27FC236}">
                <a16:creationId xmlns:a16="http://schemas.microsoft.com/office/drawing/2014/main" id="{EB739625-533A-727F-A887-1AEE95FC9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734" y="1929876"/>
            <a:ext cx="2998246" cy="299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514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86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DF8E18-F461-80DD-6F22-13139972F759}"/>
              </a:ext>
            </a:extLst>
          </p:cNvPr>
          <p:cNvSpPr txBox="1"/>
          <p:nvPr/>
        </p:nvSpPr>
        <p:spPr>
          <a:xfrm>
            <a:off x="4969299" y="298127"/>
            <a:ext cx="22517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Задачи</a:t>
            </a:r>
            <a:endParaRPr lang="ru-RU" sz="4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BCB3223-6868-8983-BA1D-73DBF9560DC2}"/>
              </a:ext>
            </a:extLst>
          </p:cNvPr>
          <p:cNvSpPr/>
          <p:nvPr/>
        </p:nvSpPr>
        <p:spPr>
          <a:xfrm>
            <a:off x="10477500" y="6011694"/>
            <a:ext cx="1498060" cy="6128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Century Gothic" panose="020B0502020202020204" pitchFamily="34" charset="0"/>
              </a:rPr>
              <a:t>5/9</a:t>
            </a: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9068DA51-73FE-1A20-F237-8C709E3669C3}"/>
              </a:ext>
            </a:extLst>
          </p:cNvPr>
          <p:cNvGrpSpPr/>
          <p:nvPr/>
        </p:nvGrpSpPr>
        <p:grpSpPr>
          <a:xfrm>
            <a:off x="423361" y="2037459"/>
            <a:ext cx="11343653" cy="2582456"/>
            <a:chOff x="471763" y="1370709"/>
            <a:chExt cx="11343653" cy="2582456"/>
          </a:xfrm>
        </p:grpSpPr>
        <p:sp>
          <p:nvSpPr>
            <p:cNvPr id="3" name="Прямоугольник: скругленные углы 2">
              <a:extLst>
                <a:ext uri="{FF2B5EF4-FFF2-40B4-BE49-F238E27FC236}">
                  <a16:creationId xmlns:a16="http://schemas.microsoft.com/office/drawing/2014/main" id="{F9FD783D-CAF7-C16E-FFD3-DC4E6EFA9D4F}"/>
                </a:ext>
              </a:extLst>
            </p:cNvPr>
            <p:cNvSpPr/>
            <p:nvPr/>
          </p:nvSpPr>
          <p:spPr>
            <a:xfrm>
              <a:off x="471763" y="1390765"/>
              <a:ext cx="5183144" cy="619010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dirty="0">
                <a:latin typeface="Century Gothic" panose="020B0502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1F713C8-28BD-BDDA-FADA-BDAAD1F40BBC}"/>
                </a:ext>
              </a:extLst>
            </p:cNvPr>
            <p:cNvSpPr txBox="1"/>
            <p:nvPr/>
          </p:nvSpPr>
          <p:spPr>
            <a:xfrm>
              <a:off x="1048506" y="1472257"/>
              <a:ext cx="46064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>
                  <a:latin typeface="Century Gothic" panose="020B0502020202020204" pitchFamily="34" charset="0"/>
                </a:rPr>
                <a:t>Сбор и анализ требований</a:t>
              </a:r>
            </a:p>
          </p:txBody>
        </p:sp>
        <p:pic>
          <p:nvPicPr>
            <p:cNvPr id="24" name="Рисунок 23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666ED1B9-EF85-98CE-291F-90EC26023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6991" y="1433568"/>
              <a:ext cx="533404" cy="533404"/>
            </a:xfrm>
            <a:prstGeom prst="rect">
              <a:avLst/>
            </a:prstGeom>
          </p:spPr>
        </p:pic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72D996D6-68C9-C17D-775A-E4FCADCC861F}"/>
                </a:ext>
              </a:extLst>
            </p:cNvPr>
            <p:cNvSpPr/>
            <p:nvPr/>
          </p:nvSpPr>
          <p:spPr>
            <a:xfrm>
              <a:off x="471763" y="2353302"/>
              <a:ext cx="5183144" cy="619010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dirty="0">
                <a:latin typeface="Century Gothic" panose="020B0502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3D745A7-1D39-FD2D-DEAC-D2A1FAFDBD6B}"/>
                </a:ext>
              </a:extLst>
            </p:cNvPr>
            <p:cNvSpPr txBox="1"/>
            <p:nvPr/>
          </p:nvSpPr>
          <p:spPr>
            <a:xfrm>
              <a:off x="1115619" y="2434794"/>
              <a:ext cx="46166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>
                  <a:latin typeface="Century Gothic" panose="020B0502020202020204" pitchFamily="34" charset="0"/>
                </a:rPr>
                <a:t>Проектирование архитектуры</a:t>
              </a:r>
            </a:p>
          </p:txBody>
        </p:sp>
        <p:pic>
          <p:nvPicPr>
            <p:cNvPr id="26" name="Рисунок 25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D5B1A581-C7F0-B8C3-ED81-B551EBFA4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103" y="2399816"/>
              <a:ext cx="533404" cy="533404"/>
            </a:xfrm>
            <a:prstGeom prst="rect">
              <a:avLst/>
            </a:prstGeom>
          </p:spPr>
        </p:pic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0E7A4869-2C50-DCA6-FC9A-75152247A3C0}"/>
                </a:ext>
              </a:extLst>
            </p:cNvPr>
            <p:cNvSpPr/>
            <p:nvPr/>
          </p:nvSpPr>
          <p:spPr>
            <a:xfrm>
              <a:off x="477526" y="3332881"/>
              <a:ext cx="5183143" cy="619010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dirty="0">
                <a:latin typeface="Century Gothic" panose="020B0502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D9733D1-0352-C19E-0DD9-0689CE71E744}"/>
                </a:ext>
              </a:extLst>
            </p:cNvPr>
            <p:cNvSpPr txBox="1"/>
            <p:nvPr/>
          </p:nvSpPr>
          <p:spPr>
            <a:xfrm>
              <a:off x="1121387" y="3414373"/>
              <a:ext cx="46166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>
                  <a:latin typeface="Century Gothic" panose="020B0502020202020204" pitchFamily="34" charset="0"/>
                </a:rPr>
                <a:t>Разработка БД и интерфейса</a:t>
              </a:r>
            </a:p>
          </p:txBody>
        </p:sp>
        <p:pic>
          <p:nvPicPr>
            <p:cNvPr id="28" name="Рисунок 27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229CF6B9-1087-2602-7FAD-262D077E0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754" y="3375684"/>
              <a:ext cx="533404" cy="533404"/>
            </a:xfrm>
            <a:prstGeom prst="rect">
              <a:avLst/>
            </a:prstGeom>
          </p:spPr>
        </p:pic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71684651-4313-9FA1-9231-EE5344CD2672}"/>
                </a:ext>
              </a:extLst>
            </p:cNvPr>
            <p:cNvSpPr/>
            <p:nvPr/>
          </p:nvSpPr>
          <p:spPr>
            <a:xfrm>
              <a:off x="6006225" y="1370709"/>
              <a:ext cx="5765066" cy="652140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dirty="0">
                <a:latin typeface="Century Gothic" panose="020B0502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AF1DE99-34E5-2205-93E3-306137838C7F}"/>
                </a:ext>
              </a:extLst>
            </p:cNvPr>
            <p:cNvSpPr txBox="1"/>
            <p:nvPr/>
          </p:nvSpPr>
          <p:spPr>
            <a:xfrm>
              <a:off x="6684546" y="1456563"/>
              <a:ext cx="51308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>
                  <a:latin typeface="Century Gothic" panose="020B0502020202020204" pitchFamily="34" charset="0"/>
                </a:rPr>
                <a:t>Реализация функциональности</a:t>
              </a:r>
            </a:p>
          </p:txBody>
        </p:sp>
        <p:pic>
          <p:nvPicPr>
            <p:cNvPr id="30" name="Рисунок 2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87F5F90B-3BAC-A19C-F24C-01D3972A4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4409" y="1415803"/>
              <a:ext cx="561953" cy="561952"/>
            </a:xfrm>
            <a:prstGeom prst="rect">
              <a:avLst/>
            </a:prstGeom>
          </p:spPr>
        </p:pic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DCFE6165-E9DB-9495-B89C-DCC054667245}"/>
                </a:ext>
              </a:extLst>
            </p:cNvPr>
            <p:cNvSpPr/>
            <p:nvPr/>
          </p:nvSpPr>
          <p:spPr>
            <a:xfrm>
              <a:off x="6006225" y="2342076"/>
              <a:ext cx="5809191" cy="630236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dirty="0">
                <a:latin typeface="Century Gothic" panose="020B0502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97F2949-B39B-B2C9-24DA-7690D30574DA}"/>
                </a:ext>
              </a:extLst>
            </p:cNvPr>
            <p:cNvSpPr txBox="1"/>
            <p:nvPr/>
          </p:nvSpPr>
          <p:spPr>
            <a:xfrm>
              <a:off x="6663582" y="2424009"/>
              <a:ext cx="51077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>
                  <a:latin typeface="Century Gothic" panose="020B0502020202020204" pitchFamily="34" charset="0"/>
                </a:rPr>
                <a:t>Тестирование модулей</a:t>
              </a:r>
            </a:p>
          </p:txBody>
        </p:sp>
        <p:pic>
          <p:nvPicPr>
            <p:cNvPr id="32" name="Рисунок 31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BFD40C48-5CF4-3543-CC0C-C0A1015CE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0350" y="2390514"/>
              <a:ext cx="543077" cy="543077"/>
            </a:xfrm>
            <a:prstGeom prst="rect">
              <a:avLst/>
            </a:prstGeom>
          </p:spPr>
        </p:pic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FBE0C8E0-6186-E63B-1C03-4DADE441BD80}"/>
                </a:ext>
              </a:extLst>
            </p:cNvPr>
            <p:cNvSpPr/>
            <p:nvPr/>
          </p:nvSpPr>
          <p:spPr>
            <a:xfrm>
              <a:off x="6050350" y="3332881"/>
              <a:ext cx="5765066" cy="620284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dirty="0">
                <a:latin typeface="Century Gothic" panose="020B0502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866BE71-3A46-FB22-2036-5D4C40936C5F}"/>
                </a:ext>
              </a:extLst>
            </p:cNvPr>
            <p:cNvSpPr txBox="1"/>
            <p:nvPr/>
          </p:nvSpPr>
          <p:spPr>
            <a:xfrm>
              <a:off x="6697328" y="3414541"/>
              <a:ext cx="31294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>
                  <a:latin typeface="Century Gothic" panose="020B0502020202020204" pitchFamily="34" charset="0"/>
                </a:rPr>
                <a:t>Документирование</a:t>
              </a:r>
            </a:p>
          </p:txBody>
        </p:sp>
        <p:pic>
          <p:nvPicPr>
            <p:cNvPr id="34" name="Рисунок 33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F74E5752-A4C5-EB76-9448-790456619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693" y="3375772"/>
              <a:ext cx="534502" cy="5345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4046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86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5250DD91-4D4B-6CC8-8ECE-638D7516EB9A}"/>
              </a:ext>
            </a:extLst>
          </p:cNvPr>
          <p:cNvSpPr/>
          <p:nvPr/>
        </p:nvSpPr>
        <p:spPr>
          <a:xfrm>
            <a:off x="1129863" y="1738266"/>
            <a:ext cx="4089741" cy="372598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DF8E18-F461-80DD-6F22-13139972F759}"/>
              </a:ext>
            </a:extLst>
          </p:cNvPr>
          <p:cNvSpPr txBox="1"/>
          <p:nvPr/>
        </p:nvSpPr>
        <p:spPr>
          <a:xfrm>
            <a:off x="2854248" y="298127"/>
            <a:ext cx="6481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Средства разработки</a:t>
            </a:r>
            <a:endParaRPr lang="ru-RU" sz="4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BCB3223-6868-8983-BA1D-73DBF9560DC2}"/>
              </a:ext>
            </a:extLst>
          </p:cNvPr>
          <p:cNvSpPr/>
          <p:nvPr/>
        </p:nvSpPr>
        <p:spPr>
          <a:xfrm>
            <a:off x="10515600" y="6011694"/>
            <a:ext cx="1498060" cy="6128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entury Gothic" panose="020B0502020202020204" pitchFamily="34" charset="0"/>
              </a:rPr>
              <a:t>6</a:t>
            </a:r>
            <a:r>
              <a:rPr lang="ru-RU" sz="3200" dirty="0">
                <a:solidFill>
                  <a:schemeClr val="tx1"/>
                </a:solidFill>
                <a:latin typeface="Century Gothic" panose="020B0502020202020204" pitchFamily="34" charset="0"/>
              </a:rPr>
              <a:t>/9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B4238B-3FC4-8CD2-700A-403227ACF965}"/>
              </a:ext>
            </a:extLst>
          </p:cNvPr>
          <p:cNvSpPr txBox="1"/>
          <p:nvPr/>
        </p:nvSpPr>
        <p:spPr>
          <a:xfrm>
            <a:off x="2075407" y="1834278"/>
            <a:ext cx="2198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  <a:ea typeface="Aptos" panose="020B0004020202020204" pitchFamily="34" charset="0"/>
              </a:rPr>
              <a:t>База данных</a:t>
            </a:r>
            <a:endParaRPr lang="ru-RU" sz="2400" dirty="0">
              <a:latin typeface="Century Gothic" panose="020B0502020202020204" pitchFamily="34" charset="0"/>
            </a:endParaRPr>
          </a:p>
        </p:txBody>
      </p:sp>
      <p:pic>
        <p:nvPicPr>
          <p:cNvPr id="6" name="Рисунок 5" descr="Изображение выглядит как Красочность, снимок экрана, Графика, Цвет электрик&#10;&#10;Автоматически созданное описание">
            <a:extLst>
              <a:ext uri="{FF2B5EF4-FFF2-40B4-BE49-F238E27FC236}">
                <a16:creationId xmlns:a16="http://schemas.microsoft.com/office/drawing/2014/main" id="{2FD9CCFA-D3D1-9B95-DEB0-7322FE6F4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067" y="3045268"/>
            <a:ext cx="1375107" cy="1375107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искусство, рисунок, зарисовк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2E4D7672-8D7E-51F3-9F33-5A56C1E2E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032" y="2940784"/>
            <a:ext cx="1951298" cy="1584077"/>
          </a:xfrm>
          <a:prstGeom prst="rect">
            <a:avLst/>
          </a:prstGeom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82E90C3-29D3-6058-7B61-82DE3049D94D}"/>
              </a:ext>
            </a:extLst>
          </p:cNvPr>
          <p:cNvSpPr/>
          <p:nvPr/>
        </p:nvSpPr>
        <p:spPr>
          <a:xfrm>
            <a:off x="6497528" y="1738266"/>
            <a:ext cx="4089741" cy="372598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EA1918-AE9B-B19F-7C92-FC4737D794F3}"/>
              </a:ext>
            </a:extLst>
          </p:cNvPr>
          <p:cNvSpPr txBox="1"/>
          <p:nvPr/>
        </p:nvSpPr>
        <p:spPr>
          <a:xfrm>
            <a:off x="7782683" y="1834278"/>
            <a:ext cx="1507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Frontend</a:t>
            </a:r>
            <a:endParaRPr lang="ru-RU" sz="2400" dirty="0">
              <a:latin typeface="Century Gothic" panose="020B0502020202020204" pitchFamily="34" charset="0"/>
            </a:endParaRPr>
          </a:p>
        </p:txBody>
      </p:sp>
      <p:pic>
        <p:nvPicPr>
          <p:cNvPr id="18" name="Рисунок 17" descr="Изображение выглядит как Графика, Красочность, фиолетовый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57429EA2-2565-1F10-3CC2-7079D0CFB6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981" y="2390385"/>
            <a:ext cx="999820" cy="999820"/>
          </a:xfrm>
          <a:prstGeom prst="rect">
            <a:avLst/>
          </a:prstGeom>
        </p:spPr>
      </p:pic>
      <p:pic>
        <p:nvPicPr>
          <p:cNvPr id="28" name="Рисунок 27" descr="Изображение выглядит как Графика, круг, графический дизайн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6FB666D9-6F46-5923-E051-BFA60E97D7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589" y="2364263"/>
            <a:ext cx="968448" cy="1089770"/>
          </a:xfrm>
          <a:prstGeom prst="rect">
            <a:avLst/>
          </a:prstGeom>
        </p:spPr>
      </p:pic>
      <p:pic>
        <p:nvPicPr>
          <p:cNvPr id="30" name="Рисунок 29" descr="Изображение выглядит как текс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ECA6FCB0-F7C3-56D3-638E-2B6B47BB75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239" y="3791360"/>
            <a:ext cx="1248978" cy="1248978"/>
          </a:xfrm>
          <a:prstGeom prst="round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Рисунок 31" descr="Изображение выглядит как логотип, Графика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A5566142-4302-7F0B-9F48-680C0A33524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7" t="5685" r="19022" b="6688"/>
          <a:stretch/>
        </p:blipFill>
        <p:spPr>
          <a:xfrm>
            <a:off x="7077435" y="3791359"/>
            <a:ext cx="1248979" cy="124897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539442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86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DF8E18-F461-80DD-6F22-13139972F759}"/>
              </a:ext>
            </a:extLst>
          </p:cNvPr>
          <p:cNvSpPr txBox="1"/>
          <p:nvPr/>
        </p:nvSpPr>
        <p:spPr>
          <a:xfrm>
            <a:off x="2805029" y="239219"/>
            <a:ext cx="6580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Архитектура системы</a:t>
            </a:r>
            <a:endParaRPr lang="ru-RU" sz="4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BCB3223-6868-8983-BA1D-73DBF9560DC2}"/>
              </a:ext>
            </a:extLst>
          </p:cNvPr>
          <p:cNvSpPr/>
          <p:nvPr/>
        </p:nvSpPr>
        <p:spPr>
          <a:xfrm>
            <a:off x="10515600" y="6011694"/>
            <a:ext cx="1498060" cy="6128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entury Gothic" panose="020B0502020202020204" pitchFamily="34" charset="0"/>
              </a:rPr>
              <a:t>7</a:t>
            </a:r>
            <a:r>
              <a:rPr lang="ru-RU" sz="3200" dirty="0">
                <a:solidFill>
                  <a:schemeClr val="tx1"/>
                </a:solidFill>
                <a:latin typeface="Century Gothic" panose="020B0502020202020204" pitchFamily="34" charset="0"/>
              </a:rPr>
              <a:t>/9</a:t>
            </a:r>
          </a:p>
        </p:txBody>
      </p:sp>
      <p:sp>
        <p:nvSpPr>
          <p:cNvPr id="5" name="Скругленный прямоугольник 9">
            <a:extLst>
              <a:ext uri="{FF2B5EF4-FFF2-40B4-BE49-F238E27FC236}">
                <a16:creationId xmlns:a16="http://schemas.microsoft.com/office/drawing/2014/main" id="{DF31B498-A71E-7635-6A73-1B91F24C97DF}"/>
              </a:ext>
            </a:extLst>
          </p:cNvPr>
          <p:cNvSpPr/>
          <p:nvPr/>
        </p:nvSpPr>
        <p:spPr>
          <a:xfrm>
            <a:off x="1199997" y="1946275"/>
            <a:ext cx="5719895" cy="278764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6">
            <a:extLst>
              <a:ext uri="{FF2B5EF4-FFF2-40B4-BE49-F238E27FC236}">
                <a16:creationId xmlns:a16="http://schemas.microsoft.com/office/drawing/2014/main" id="{0BA32A06-DCE9-3FF5-AC6D-8E0A6610F869}"/>
              </a:ext>
            </a:extLst>
          </p:cNvPr>
          <p:cNvSpPr/>
          <p:nvPr/>
        </p:nvSpPr>
        <p:spPr>
          <a:xfrm>
            <a:off x="7400146" y="1946275"/>
            <a:ext cx="3846031" cy="27876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8">
            <a:extLst>
              <a:ext uri="{FF2B5EF4-FFF2-40B4-BE49-F238E27FC236}">
                <a16:creationId xmlns:a16="http://schemas.microsoft.com/office/drawing/2014/main" id="{82E8B8B7-807A-17DF-70B6-A794C5CB5664}"/>
              </a:ext>
            </a:extLst>
          </p:cNvPr>
          <p:cNvSpPr/>
          <p:nvPr/>
        </p:nvSpPr>
        <p:spPr>
          <a:xfrm>
            <a:off x="1676401" y="2828472"/>
            <a:ext cx="2112606" cy="12600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10">
            <a:extLst>
              <a:ext uri="{FF2B5EF4-FFF2-40B4-BE49-F238E27FC236}">
                <a16:creationId xmlns:a16="http://schemas.microsoft.com/office/drawing/2014/main" id="{AB29810E-D8C6-60CA-57A4-1101DC400A04}"/>
              </a:ext>
            </a:extLst>
          </p:cNvPr>
          <p:cNvSpPr/>
          <p:nvPr/>
        </p:nvSpPr>
        <p:spPr>
          <a:xfrm>
            <a:off x="4376712" y="2833461"/>
            <a:ext cx="2112606" cy="12600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1">
            <a:extLst>
              <a:ext uri="{FF2B5EF4-FFF2-40B4-BE49-F238E27FC236}">
                <a16:creationId xmlns:a16="http://schemas.microsoft.com/office/drawing/2014/main" id="{31EC9D0B-1D25-FF76-A436-99A56EFEB3D5}"/>
              </a:ext>
            </a:extLst>
          </p:cNvPr>
          <p:cNvSpPr/>
          <p:nvPr/>
        </p:nvSpPr>
        <p:spPr>
          <a:xfrm>
            <a:off x="7697274" y="2713218"/>
            <a:ext cx="3251773" cy="150607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A98B6C68-47AA-A25D-DC79-864544F6B7B5}"/>
              </a:ext>
            </a:extLst>
          </p:cNvPr>
          <p:cNvSpPr txBox="1">
            <a:spLocks/>
          </p:cNvSpPr>
          <p:nvPr/>
        </p:nvSpPr>
        <p:spPr>
          <a:xfrm>
            <a:off x="1661161" y="2993788"/>
            <a:ext cx="2143086" cy="9449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Century Gothic" panose="020B0502020202020204" pitchFamily="34" charset="0"/>
              </a:rPr>
              <a:t>База данных</a:t>
            </a:r>
          </a:p>
          <a:p>
            <a:r>
              <a:rPr lang="en-US" dirty="0">
                <a:latin typeface="Century Gothic" panose="020B0502020202020204" pitchFamily="34" charset="0"/>
              </a:rPr>
              <a:t>MSSQL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D8A9758F-F815-784D-E4A8-24E2704A54A8}"/>
              </a:ext>
            </a:extLst>
          </p:cNvPr>
          <p:cNvSpPr txBox="1">
            <a:spLocks/>
          </p:cNvSpPr>
          <p:nvPr/>
        </p:nvSpPr>
        <p:spPr>
          <a:xfrm>
            <a:off x="4909639" y="3172693"/>
            <a:ext cx="1044647" cy="5126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Century Gothic" panose="020B0502020202020204" pitchFamily="34" charset="0"/>
              </a:rPr>
              <a:t>ORM</a:t>
            </a:r>
            <a:endParaRPr lang="ru-RU" dirty="0">
              <a:latin typeface="Century Gothic" panose="020B0502020202020204" pitchFamily="34" charset="0"/>
            </a:endParaRP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B3E4AD3A-27BC-E21B-A0E5-79DB41AFEB8E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789007" y="3458472"/>
            <a:ext cx="587705" cy="49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C038F40A-0EE8-45B5-929A-250E4C3BB237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6489318" y="3463461"/>
            <a:ext cx="1207956" cy="27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CA64DE8-4772-A80D-2777-D46A02B5CAFB}"/>
              </a:ext>
            </a:extLst>
          </p:cNvPr>
          <p:cNvSpPr txBox="1"/>
          <p:nvPr/>
        </p:nvSpPr>
        <p:spPr>
          <a:xfrm>
            <a:off x="3496328" y="1986291"/>
            <a:ext cx="1399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Сервер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864C12-1F88-86EB-1F69-A0DEAE41E24A}"/>
              </a:ext>
            </a:extLst>
          </p:cNvPr>
          <p:cNvSpPr txBox="1"/>
          <p:nvPr/>
        </p:nvSpPr>
        <p:spPr>
          <a:xfrm>
            <a:off x="8105520" y="2005228"/>
            <a:ext cx="2435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Клиентский ПК</a:t>
            </a:r>
          </a:p>
        </p:txBody>
      </p:sp>
      <p:sp>
        <p:nvSpPr>
          <p:cNvPr id="18" name="Объект 2">
            <a:extLst>
              <a:ext uri="{FF2B5EF4-FFF2-40B4-BE49-F238E27FC236}">
                <a16:creationId xmlns:a16="http://schemas.microsoft.com/office/drawing/2014/main" id="{BB352A9E-0DBA-C6B3-E65C-BDED53D87B5F}"/>
              </a:ext>
            </a:extLst>
          </p:cNvPr>
          <p:cNvSpPr txBox="1">
            <a:spLocks/>
          </p:cNvSpPr>
          <p:nvPr/>
        </p:nvSpPr>
        <p:spPr>
          <a:xfrm>
            <a:off x="7651793" y="3076843"/>
            <a:ext cx="3340210" cy="70430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latin typeface="Century Gothic" panose="020B0502020202020204" pitchFamily="34" charset="0"/>
              </a:rPr>
              <a:t>ConstructionMaterialManagment.exe</a:t>
            </a:r>
            <a:endParaRPr lang="ru-RU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095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86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DF8E18-F461-80DD-6F22-13139972F759}"/>
              </a:ext>
            </a:extLst>
          </p:cNvPr>
          <p:cNvSpPr txBox="1"/>
          <p:nvPr/>
        </p:nvSpPr>
        <p:spPr>
          <a:xfrm>
            <a:off x="2859526" y="249850"/>
            <a:ext cx="64729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Преимущества проекта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9FD783D-CAF7-C16E-FFD3-DC4E6EFA9D4F}"/>
              </a:ext>
            </a:extLst>
          </p:cNvPr>
          <p:cNvSpPr/>
          <p:nvPr/>
        </p:nvSpPr>
        <p:spPr>
          <a:xfrm>
            <a:off x="635541" y="1936438"/>
            <a:ext cx="2506580" cy="298512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985F98-AC42-713E-E112-1D92E81C7FB9}"/>
              </a:ext>
            </a:extLst>
          </p:cNvPr>
          <p:cNvSpPr txBox="1"/>
          <p:nvPr/>
        </p:nvSpPr>
        <p:spPr>
          <a:xfrm>
            <a:off x="590020" y="2032925"/>
            <a:ext cx="25976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Century Gothic" panose="020B0502020202020204" pitchFamily="34" charset="0"/>
              </a:rPr>
              <a:t>Автоматизация учета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BCB3223-6868-8983-BA1D-73DBF9560DC2}"/>
              </a:ext>
            </a:extLst>
          </p:cNvPr>
          <p:cNvSpPr/>
          <p:nvPr/>
        </p:nvSpPr>
        <p:spPr>
          <a:xfrm>
            <a:off x="10515600" y="6011694"/>
            <a:ext cx="1498060" cy="6128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entury Gothic" panose="020B0502020202020204" pitchFamily="34" charset="0"/>
              </a:rPr>
              <a:t>8</a:t>
            </a:r>
            <a:r>
              <a:rPr lang="ru-RU" sz="3200" dirty="0">
                <a:solidFill>
                  <a:schemeClr val="tx1"/>
                </a:solidFill>
                <a:latin typeface="Century Gothic" panose="020B0502020202020204" pitchFamily="34" charset="0"/>
              </a:rPr>
              <a:t>/9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F0553C9-83D1-2EED-C1A5-3ECE42560B7E}"/>
              </a:ext>
            </a:extLst>
          </p:cNvPr>
          <p:cNvSpPr/>
          <p:nvPr/>
        </p:nvSpPr>
        <p:spPr>
          <a:xfrm>
            <a:off x="6408081" y="1936437"/>
            <a:ext cx="2506580" cy="298512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E9DCE9-3EAE-C9E7-EB12-2CEB43B1C206}"/>
              </a:ext>
            </a:extLst>
          </p:cNvPr>
          <p:cNvSpPr txBox="1"/>
          <p:nvPr/>
        </p:nvSpPr>
        <p:spPr>
          <a:xfrm>
            <a:off x="6511419" y="2059811"/>
            <a:ext cx="2312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Century Gothic" panose="020B0502020202020204" pitchFamily="34" charset="0"/>
              </a:rPr>
              <a:t>Улучшение контроля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1D23FF9-C54C-3B13-4DCE-D34EB2CE4B46}"/>
              </a:ext>
            </a:extLst>
          </p:cNvPr>
          <p:cNvSpPr/>
          <p:nvPr/>
        </p:nvSpPr>
        <p:spPr>
          <a:xfrm>
            <a:off x="3521811" y="1936437"/>
            <a:ext cx="2506580" cy="298512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3EC4A1-B603-8AAC-2336-3599E850B44D}"/>
              </a:ext>
            </a:extLst>
          </p:cNvPr>
          <p:cNvSpPr txBox="1"/>
          <p:nvPr/>
        </p:nvSpPr>
        <p:spPr>
          <a:xfrm>
            <a:off x="3593323" y="2059811"/>
            <a:ext cx="2312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Century Gothic" panose="020B0502020202020204" pitchFamily="34" charset="0"/>
              </a:rPr>
              <a:t>Снижение ошибок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9A41CF6-8E34-7A56-301F-2F190ECABDB4}"/>
              </a:ext>
            </a:extLst>
          </p:cNvPr>
          <p:cNvSpPr/>
          <p:nvPr/>
        </p:nvSpPr>
        <p:spPr>
          <a:xfrm>
            <a:off x="9294351" y="1934105"/>
            <a:ext cx="2506580" cy="298512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6F055A-4DC1-84BD-599D-0BC2BCD4833B}"/>
              </a:ext>
            </a:extLst>
          </p:cNvPr>
          <p:cNvSpPr txBox="1"/>
          <p:nvPr/>
        </p:nvSpPr>
        <p:spPr>
          <a:xfrm>
            <a:off x="9391389" y="2030724"/>
            <a:ext cx="2312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Century Gothic" panose="020B0502020202020204" pitchFamily="34" charset="0"/>
              </a:rPr>
              <a:t>Удобный интерфейс</a:t>
            </a:r>
          </a:p>
        </p:txBody>
      </p:sp>
      <p:pic>
        <p:nvPicPr>
          <p:cNvPr id="20" name="Рисунок 19" descr="Изображение выглядит как круг, Графика, снимок экран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A701B01E-291B-10F2-7DC7-E48CF080E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231" y="3014183"/>
            <a:ext cx="1696148" cy="1696148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Графика, графическая вставка, графический дизайн, снимок экрана">
            <a:extLst>
              <a:ext uri="{FF2B5EF4-FFF2-40B4-BE49-F238E27FC236}">
                <a16:creationId xmlns:a16="http://schemas.microsoft.com/office/drawing/2014/main" id="{076CB4E5-C209-B5DC-EDE5-131836734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824" y="3090653"/>
            <a:ext cx="1631062" cy="1631062"/>
          </a:xfrm>
          <a:prstGeom prst="rect">
            <a:avLst/>
          </a:prstGeom>
        </p:spPr>
      </p:pic>
      <p:pic>
        <p:nvPicPr>
          <p:cNvPr id="24" name="Рисунок 23" descr="Изображение выглядит как графическая вставка, символ, Графика, круг&#10;&#10;Автоматически созданное описание">
            <a:extLst>
              <a:ext uri="{FF2B5EF4-FFF2-40B4-BE49-F238E27FC236}">
                <a16:creationId xmlns:a16="http://schemas.microsoft.com/office/drawing/2014/main" id="{2656E56D-FA70-FA86-476E-15CD5E507F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377" y="3010171"/>
            <a:ext cx="1679392" cy="1679392"/>
          </a:xfrm>
          <a:prstGeom prst="rect">
            <a:avLst/>
          </a:prstGeom>
        </p:spPr>
      </p:pic>
      <p:pic>
        <p:nvPicPr>
          <p:cNvPr id="26" name="Рисунок 25" descr="Изображение выглядит как снимок экран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24F4B7BE-AA85-834E-BF39-771A0D34E1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835" y="3007840"/>
            <a:ext cx="1742695" cy="174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301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86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DF8E18-F461-80DD-6F22-13139972F759}"/>
              </a:ext>
            </a:extLst>
          </p:cNvPr>
          <p:cNvSpPr txBox="1"/>
          <p:nvPr/>
        </p:nvSpPr>
        <p:spPr>
          <a:xfrm>
            <a:off x="4261569" y="160220"/>
            <a:ext cx="36672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Заключение</a:t>
            </a:r>
            <a:endParaRPr lang="ru-RU" sz="4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BCB3223-6868-8983-BA1D-73DBF9560DC2}"/>
              </a:ext>
            </a:extLst>
          </p:cNvPr>
          <p:cNvSpPr/>
          <p:nvPr/>
        </p:nvSpPr>
        <p:spPr>
          <a:xfrm>
            <a:off x="10515600" y="6011694"/>
            <a:ext cx="1498060" cy="6128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Century Gothic" panose="020B0502020202020204" pitchFamily="34" charset="0"/>
              </a:rPr>
              <a:t>9/9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9FD783D-CAF7-C16E-FFD3-DC4E6EFA9D4F}"/>
              </a:ext>
            </a:extLst>
          </p:cNvPr>
          <p:cNvSpPr/>
          <p:nvPr/>
        </p:nvSpPr>
        <p:spPr>
          <a:xfrm>
            <a:off x="698972" y="1755842"/>
            <a:ext cx="10792433" cy="334631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B4238B-3FC4-8CD2-700A-403227ACF965}"/>
              </a:ext>
            </a:extLst>
          </p:cNvPr>
          <p:cNvSpPr txBox="1"/>
          <p:nvPr/>
        </p:nvSpPr>
        <p:spPr>
          <a:xfrm>
            <a:off x="1297021" y="2828834"/>
            <a:ext cx="4951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  <a:ea typeface="Aptos" panose="020B0004020202020204" pitchFamily="34" charset="0"/>
              </a:rPr>
              <a:t>Поставленная цель достигнута и все задачи выполнены </a:t>
            </a:r>
            <a:endParaRPr lang="ru-RU" sz="2400" dirty="0">
              <a:latin typeface="Century Gothic" panose="020B0502020202020204" pitchFamily="34" charset="0"/>
            </a:endParaRPr>
          </a:p>
        </p:txBody>
      </p:sp>
      <p:pic>
        <p:nvPicPr>
          <p:cNvPr id="6" name="Рисунок 5" descr="Изображение выглядит как Графика, символ, Шрифт,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D9ED3E11-2CCD-48DF-9129-0258C88D8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103" y="2046250"/>
            <a:ext cx="2765497" cy="276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95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86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19FE7E3-2FC6-1667-21EF-04DCDD5EFFC7}"/>
              </a:ext>
            </a:extLst>
          </p:cNvPr>
          <p:cNvSpPr/>
          <p:nvPr/>
        </p:nvSpPr>
        <p:spPr>
          <a:xfrm>
            <a:off x="246743" y="188686"/>
            <a:ext cx="11520000" cy="252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ФЕДЕРАЛЬНОЕ ГОСУДАРСТВЕННОЕ БЮДЖЕТНОЕ ОБРАЗОВАТЕЛЬНОЕ</a:t>
            </a:r>
            <a:b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УЧРЕЖДЕНИЕ ВЫСШЕГО ОБРАЗОВАНИЯ</a:t>
            </a:r>
            <a:b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«САНКТ-ПЕТЕРБУРГСКИЙ ГОСУДАРСТВЕННЫЙ УНИВЕРСИТЕТ</a:t>
            </a:r>
            <a:b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ТЕЛЕКОММУНИКАЦИЙ ИМ. ПРОФ. М.А. БОНЧ-БРУЕВИЧА»</a:t>
            </a:r>
            <a:b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(СПбГУТ)</a:t>
            </a:r>
            <a:b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АРХАНГЕЛЬСКИЙ КОЛЛЕДЖ ТЕЛЕКОММУНИКАЦИЙ</a:t>
            </a:r>
            <a:b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ИМ. Б.Л. РОЗИНГА (ФИЛИАЛ) СПбГУТ</a:t>
            </a:r>
            <a:b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(АКТ (ф) СПбГУТ)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6B9CD4-8530-6266-1F62-4E8CB29D53E8}"/>
              </a:ext>
            </a:extLst>
          </p:cNvPr>
          <p:cNvSpPr txBox="1"/>
          <p:nvPr/>
        </p:nvSpPr>
        <p:spPr>
          <a:xfrm>
            <a:off x="0" y="2814676"/>
            <a:ext cx="12192000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latin typeface="Century Gothic" panose="020B0502020202020204" pitchFamily="34" charset="0"/>
              </a:rPr>
              <a:t>КУРСОВОЙ ПРОЕКТ</a:t>
            </a:r>
          </a:p>
          <a:p>
            <a:pPr algn="ctr"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РАЗРАБОТКА ПОДСИСТЕМЫ УЧЕТА ДОРОЖНО-СТРОИТЕЛЬНЫХ МАТЕРИАЛОВ </a:t>
            </a:r>
            <a:br>
              <a:rPr lang="ru-RU" sz="240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</a:br>
            <a:r>
              <a:rPr lang="ru-RU" sz="240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ДЛЯ АВТОДОРОЖНЫХ ПРОЕКТОВ</a:t>
            </a:r>
            <a:endParaRPr lang="ru-RU" sz="24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9D8529-059C-5795-60C4-40500167F4B7}"/>
              </a:ext>
            </a:extLst>
          </p:cNvPr>
          <p:cNvSpPr txBox="1"/>
          <p:nvPr/>
        </p:nvSpPr>
        <p:spPr>
          <a:xfrm>
            <a:off x="8510258" y="4734300"/>
            <a:ext cx="35733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Кореев Михаил Алексеевич</a:t>
            </a:r>
          </a:p>
          <a:p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Студент ИСПП-21</a:t>
            </a:r>
          </a:p>
          <a:p>
            <a:endParaRPr lang="ru-RU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Маломан Юлия Сергеевна</a:t>
            </a:r>
            <a:b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Руководитель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22115E-2A59-2501-0846-007E3243A95E}"/>
              </a:ext>
            </a:extLst>
          </p:cNvPr>
          <p:cNvSpPr txBox="1"/>
          <p:nvPr/>
        </p:nvSpPr>
        <p:spPr>
          <a:xfrm>
            <a:off x="5082011" y="6323329"/>
            <a:ext cx="2314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Архангельск 2025</a:t>
            </a:r>
          </a:p>
        </p:txBody>
      </p:sp>
    </p:spTree>
    <p:extLst>
      <p:ext uri="{BB962C8B-B14F-4D97-AF65-F5344CB8AC3E}">
        <p14:creationId xmlns:p14="http://schemas.microsoft.com/office/powerpoint/2010/main" val="10026605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247</Words>
  <Application>Microsoft Office PowerPoint</Application>
  <PresentationFormat>Широкоэкранный</PresentationFormat>
  <Paragraphs>56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Century Gothic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Mihail Koreev</dc:creator>
  <cp:lastModifiedBy>Mihail Koreev</cp:lastModifiedBy>
  <cp:revision>1</cp:revision>
  <dcterms:created xsi:type="dcterms:W3CDTF">2025-12-08T22:50:59Z</dcterms:created>
  <dcterms:modified xsi:type="dcterms:W3CDTF">2025-12-09T01:30:56Z</dcterms:modified>
</cp:coreProperties>
</file>